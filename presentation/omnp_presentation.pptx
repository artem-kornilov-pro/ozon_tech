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833ea32-922e-a1d3-cae0-72eecf13ef81}">
          <p14:sldIdLst>
            <p14:sldId id="256"/>
            <p14:sldId id="257"/>
            <p14:sldId id="258"/>
          </p14:sldIdLst>
        </p14:section>
        <p14:section name="Находки" id="{fade1a36-11c5-b9d8-a7f1-6b8b6aa48ce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Рекомендации" id="{1589cf7f-8d40-f783-048c-01ef125a0f7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Доля ОМНП по типу потребности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Узнать</c:v>
                  </c:pt>
                  <c:pt idx="1">
                    <c:v>Неясный запрос</c:v>
                  </c:pt>
                  <c:pt idx="2">
                    <c:v>Решить по своему заказу</c:v>
                  </c:pt>
                  <c:pt idx="3">
                    <c:v>Эскалация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0.761666059059424</c:v>
                </c:pt>
                <c:pt idx="1">
                  <c:v>0.8597146125594557</c:v>
                </c:pt>
                <c:pt idx="2">
                  <c:v>0.8893875075803517</c:v>
                </c:pt>
                <c:pt idx="3">
                  <c:v>0.9288371724847622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ОМНП (n=150)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Нужно действие / данные по своему заказу</c:v>
                  </c:pt>
                  <c:pt idx="1">
                    <c:v>Ответ корректный и по существу</c:v>
                  </c:pt>
                  <c:pt idx="2">
                    <c:v>Ответ по теме, но общий / неполный</c:v>
                  </c:pt>
                  <c:pt idx="3">
                    <c:v>Продолжение диалога: бот не видит контекст</c:v>
                  </c:pt>
                  <c:pt idx="4">
                    <c:v>Жалоба / нужен оператор: бот даёт справку</c:v>
                  </c:pt>
                  <c:pt idx="5">
                    <c:v>Корректный отказ по правилам («нельзя»)</c:v>
                  </c:pt>
                  <c:pt idx="6">
                    <c:v>Неясный запрос: бот угадывает</c:v>
                  </c:pt>
                  <c:pt idx="7">
                    <c:v>Ответ не по теме (неверно понят запрос)</c:v>
                  </c:pt>
                  <c:pt idx="8">
                    <c:v>Нет информации в базе знаний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0.33299999999999996</c:v>
                </c:pt>
                <c:pt idx="1">
                  <c:v>0.17300000000000001</c:v>
                </c:pt>
                <c:pt idx="2">
                  <c:v>0.147</c:v>
                </c:pt>
                <c:pt idx="3">
                  <c:v>0.08</c:v>
                </c:pt>
                <c:pt idx="4">
                  <c:v>0.073</c:v>
                </c:pt>
                <c:pt idx="5">
                  <c:v>0.06</c:v>
                </c:pt>
                <c:pt idx="6">
                  <c:v>0.06</c:v>
                </c:pt>
                <c:pt idx="7">
                  <c:v>0.04</c:v>
                </c:pt>
                <c:pt idx="8">
                  <c:v>0.033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«Спасибо» (n=60)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Нужно действие / данные по своему заказу</c:v>
                  </c:pt>
                  <c:pt idx="1">
                    <c:v>Ответ корректный и по существу</c:v>
                  </c:pt>
                  <c:pt idx="2">
                    <c:v>Ответ по теме, но общий / неполный</c:v>
                  </c:pt>
                  <c:pt idx="3">
                    <c:v>Продолжение диалога: бот не видит контекст</c:v>
                  </c:pt>
                  <c:pt idx="4">
                    <c:v>Жалоба / нужен оператор: бот даёт справку</c:v>
                  </c:pt>
                  <c:pt idx="5">
                    <c:v>Корректный отказ по правилам («нельзя»)</c:v>
                  </c:pt>
                  <c:pt idx="6">
                    <c:v>Неясный запрос: бот угадывает</c:v>
                  </c:pt>
                  <c:pt idx="7">
                    <c:v>Ответ не по теме (неверно понят запрос)</c:v>
                  </c:pt>
                  <c:pt idx="8">
                    <c:v>Нет информации в базе знаний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0.11699999999999999</c:v>
                </c:pt>
                <c:pt idx="1">
                  <c:v>0.6829999999999999</c:v>
                </c:pt>
                <c:pt idx="2">
                  <c:v>0.083</c:v>
                </c:pt>
                <c:pt idx="3">
                  <c:v>0</c:v>
                </c:pt>
                <c:pt idx="4">
                  <c:v>0.017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Доля ОМНП: кнопки как навигация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«назад»</c:v>
                  </c:pt>
                  <c:pt idx="1">
                    <c:v>«главное меню»</c:v>
                  </c:pt>
                  <c:pt idx="2">
                    <c:v>«другой заказ»</c:v>
                  </c:pt>
                  <c:pt idx="3">
                    <c:v>«нет»</c:v>
                  </c:pt>
                  <c:pt idx="4">
                    <c:v>«человек»</c:v>
                  </c:pt>
                  <c:pt idx="5">
                    <c:v>«оператор»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0.4111111111111111</c:v>
                </c:pt>
                <c:pt idx="1">
                  <c:v>0.4809688581314879</c:v>
                </c:pt>
                <c:pt idx="2">
                  <c:v>0.8682926829268293</c:v>
                </c:pt>
                <c:pt idx="3">
                  <c:v>0.9534883720930232</c:v>
                </c:pt>
                <c:pt idx="4">
                  <c:v>0.993485342019544</c:v>
                </c:pt>
                <c:pt idx="5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Доля всех ОМНП по корню проблемы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Нужно действие или данные по своему заказу</c:v>
                  </c:pt>
                  <c:pt idx="1">
                    <c:v>Неясный запрос: бот угадывает тему</c:v>
                  </c:pt>
                  <c:pt idx="2">
                    <c:v>Информационный вопрос: релевантный ответ</c:v>
                  </c:pt>
                  <c:pt idx="3">
                    <c:v>Жалоба / запрос оператора</c:v>
                  </c:pt>
                  <c:pt idx="4">
                    <c:v>Информационный вопрос: нерелевантный ответ</c:v>
                  </c:pt>
                  <c:pt idx="5">
                    <c:v>Продолжение диалога без контекста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0.3593621358842671</c:v>
                </c:pt>
                <c:pt idx="1">
                  <c:v>0.2524013016034814</c:v>
                </c:pt>
                <c:pt idx="2">
                  <c:v>0.2125788999098286</c:v>
                </c:pt>
                <c:pt idx="3">
                  <c:v>0.115007644960207</c:v>
                </c:pt>
                <c:pt idx="4">
                  <c:v>0.0331477633590779</c:v>
                </c:pt>
                <c:pt idx="5">
                  <c:v>0.0275022542831379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что на самом деле происходит в диалогах, которые заканчиваются кнопкой «Ответ мне не помог» (ОМНП). Источник: 120 тыс. пар «вопрос → ответ RAG → реакция». Весь анализ воспроизводится в Colab-ноутбуке.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цифры для запоминания. Подробности на следующих слайдах. Важно: 85% ОМНП — это доля среди нажавших кнопку, а не доля плохих ответов вообще.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Пайплайн полностью в ноутбуке. Центроиды кластеров и ручная разметка лежат в папке data, поэтому результаты воспроизводятся один в один.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объём ОМНП, справа — доля с доверительными интервалами. Оранжевые темы значимо выше базы 85%, синие — ниже.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 намерения определён правилами и проверен на ручной разметке. Эскалация — жалобы и прямой запрос оператора.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Ручная разметка случайной выборки. ДИ для «нужно действие»: 26–41%. 17% ОМНП стоят на корректном ответе — к этому вернёмся на слайде про расхождения. Примеры пересказаны.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сильное свойство — прямой ответ первым словом. Самое вредное — «список возможных причин» вместо ответа про конкретный случай. Релевантность монотонно связана с ОМНП: 91% в нижнем дециле против 77% в верхнем.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ожидаемой реакции нашла 837 «неожиданных» ОМНП: это в основном верные, но нежеланные ответы («продлить хранение нельзя»). Неожиданные «Спасибо» (406) — вежливость и ответы с выходом в чат поддержки.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Пример: на вопросы со «199 ₽» ответ «это продление Premium» получает 76,5% ОМНП, а «списание может происходить по следующим причинам…» — 88,6%.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Сценарная оценка: если сегмент «решить по заказу» довести до уровня информационных вопросов (75%), минус ~5,9 тыс. ОМНП на 120 тыс. диалогов (5,8% всех ОМНП). Реальный эффект измерять A/B-тестом.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Оранжевые — наибольший эффект, но нужны интеграции. Синие — быстрые: промпт, интерфейс, передача контекста. Плюс гигиена: пополнить базу знаний (2% «нет информации»), убрать повтор номера заказа без данных, проверять Markdown и язык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Код, таблицы, отчёт и дашборд — в репозитории. Ноутбук запускается в Colab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Исследование ОМНП · RAG-чатбот поддержки Ozon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Почему пользователи нажимают «Ответ мне не помог»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Исследование RAG-чатбота поддержки Ozon · 119 992 диалогов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Главное за минуту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417320"/>
            <a:ext cx="2628900" cy="3017520"/>
          </a:xfrm>
          <a:prstGeom prst="roundRect">
            <a:avLst>
              <a:gd name="adj" fmla="val 278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</a:rPr>
              <a:t>36%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всех ОМНП — запросы действия или данных по своему заказу; бот отвечает на них справкой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360420" y="1417320"/>
            <a:ext cx="2628900" cy="3017520"/>
          </a:xfrm>
          <a:prstGeom prst="roundRect">
            <a:avLst>
              <a:gd name="adj" fmla="val 278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330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</a:rPr>
              <a:t>76% → 89%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8902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доля ОМНП: вопрос «узнать» против запроса «решить по своему заказу»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172200" y="1417320"/>
            <a:ext cx="2628900" cy="3017520"/>
          </a:xfrm>
          <a:prstGeom prst="roundRect">
            <a:avLst>
              <a:gd name="adj" fmla="val 278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</a:rPr>
              <a:t>×2,5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ниже шансы ОМНП, если ответ начинается с прямого «Да» или «Нет»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8983980" y="1417320"/>
            <a:ext cx="2628900" cy="3017520"/>
          </a:xfrm>
          <a:prstGeom prst="roundRect">
            <a:avLst>
              <a:gd name="adj" fmla="val 278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6686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</a:rPr>
              <a:t>99%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21258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ОМНП после сообщения «человек»: кнопка служит дорогой к оператору, а не оценкой</a:t>
            </a:r>
            <a:endParaRPr lang="en-US" sz="1400" dirty="0"/>
          </a:p>
        </p:txBody>
      </p:sp>
      <p:sp>
        <p:nvSpPr>
          <p:cNvPr id="15" name="takeaway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F2433"/>
          </a:solidFill>
          <a:ln w="12700">
            <a:solidFill>
              <a:srgbClr val="1F24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</a:rPr>
              <a:t>Вывод: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ОМНП сигнализирует прежде всего о несоответствии типа ответа типу запроса. Бот даёт справку там, где человеку нужно действие, данные его заказа или оператор. Качество самого текста вторично.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Данные и подход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350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Эмбеддинги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642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multilingual-e5-small для вопросов и ответов; близость «вопрос–ответ» как прокси релевантности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494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Кластеризация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786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50 кластеров вопросов → 16 тем; 40 кластеров ответов ≈ статьи базы знаний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638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Тип намерения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930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правила: узнать / решить по своему заказу / эскалация / неясный запрос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782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Ручная разметка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074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210 диалогов (150 ОМНП + 60 «Спасибо»): основная причина ОМНП, 9 категорий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926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Модели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3218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бустинг «ожидаемой реакции» (AUC 0,73) и логит с поправкой на тему</a:t>
            </a:r>
            <a:endParaRPr lang="en-US" sz="1300" dirty="0"/>
          </a:p>
        </p:txBody>
      </p:sp>
      <p:sp>
        <p:nvSpPr>
          <p:cNvPr id="23" name="data-card"/>
          <p:cNvSpPr/>
          <p:nvPr/>
        </p:nvSpPr>
        <p:spPr>
          <a:xfrm>
            <a:off x="7498080" y="137160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</a:rPr>
              <a:t>119 992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130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диалогов «вопрос → ответ → кнопка»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624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</a:rPr>
              <a:t>85%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нажатий — «Ответ мне не помог»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484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</a:rPr>
              <a:t>20%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178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вопросов из 1–3 слов (кнопки меню)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754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Ограничения: в выборке только диалоги с нажатой кнопкой; нет сессий, дат и найденных фрагментов базы знаний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Где больше всего ОМНП</a:t>
            </a:r>
            <a:endParaRPr lang="en-US" sz="3200" dirty="0"/>
          </a:p>
        </p:txBody>
      </p:sp>
      <p:pic>
        <p:nvPicPr>
          <p:cNvPr id="3" name="Image 0" descr="Объём и доля ОМНП по 16 тема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955280" cy="4069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23960" y="1325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</a:rPr>
              <a:t>Объём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823960" y="1691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Статус доставки (15,9 тыс.) и развёрнутые жалобы (14,3 тыс.) дают больше всего ОМНП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2697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</a:rPr>
              <a:t>Доля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3063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Хуже базы: проблемы с получением (93%), продолжение диалога (91%), отмена и статус (88%)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4069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</a:rPr>
              <a:t>Лучше базы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Посылки (75%), баллы (76%), изменение доставки (77%), хранение (79%)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Кластеры сложились не только по темам, но и по форме запроса: длинные жалобы, однословные кнопки, реплики «вопрос выше».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Важна не тема, а то, что нужно человеку</a:t>
            </a:r>
            <a:endParaRPr lang="en-US" sz="3200" dirty="0"/>
          </a:p>
        </p:txBody>
      </p:sp>
      <p:graphicFrame>
        <p:nvGraphicFramePr>
          <p:cNvPr id="3" name="need-chart" descr=""/>
          <p:cNvGraphicFramePr/>
          <p:nvPr/>
        </p:nvGraphicFramePr>
        <p:xfrm>
          <a:off x="548640" y="128016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Доля обращений: узнать 27% · неясный запрос 28% · решить по своему заказу 34% · эскалация 11%</a:t>
            </a:r>
            <a:endParaRPr lang="en-US" sz="1200" dirty="0"/>
          </a:p>
        </p:txBody>
      </p:sp>
      <p:pic>
        <p:nvPicPr>
          <p:cNvPr id="5" name="Image 0" descr="Тепловая карта: тема × тип потребност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1188720"/>
            <a:ext cx="6492240" cy="4206240"/>
          </a:xfrm>
          <a:prstGeom prst="rect">
            <a:avLst/>
          </a:prstGeom>
        </p:spPr>
      </p:pic>
      <p:sp>
        <p:nvSpPr>
          <p:cNvPr id="6" name="need-takeaway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CEDE5"/>
          </a:solidFill>
          <a:ln w="12700">
            <a:solidFill>
              <a:srgbClr val="FCEDE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Внутри каждой темы «узнать» получает на 8–18 п.п. меньше ОМНП, чем «решить по своему заказу»: Premium 67% → 85%, баллы 69% → 86%, отмена 78% → 90%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Каждый третий ОМНП — запрос действия</a:t>
            </a:r>
            <a:endParaRPr lang="en-US" sz="3200" dirty="0"/>
          </a:p>
        </p:txBody>
      </p:sp>
      <p:graphicFrame>
        <p:nvGraphicFramePr>
          <p:cNvPr id="3" name="manual-chart" descr=""/>
          <p:cNvGraphicFramePr/>
          <p:nvPr/>
        </p:nvGraphicFramePr>
        <p:xfrm>
          <a:off x="54864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ample-0"/>
          <p:cNvSpPr/>
          <p:nvPr/>
        </p:nvSpPr>
        <p:spPr>
          <a:xfrm>
            <a:off x="7818120" y="13258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</a:rPr>
              <a:t>Нужно действие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Вопрос: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«Заказ № … когда приедет???»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Ответ: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«Статус отображается в разделе Заказы»</a:t>
            </a:r>
            <a:endParaRPr lang="en-US" sz="1200" dirty="0"/>
          </a:p>
        </p:txBody>
      </p:sp>
      <p:sp>
        <p:nvSpPr>
          <p:cNvPr id="7" name="example-1"/>
          <p:cNvSpPr/>
          <p:nvPr/>
        </p:nvSpPr>
        <p:spPr>
          <a:xfrm>
            <a:off x="7818120" y="29260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</a:rPr>
              <a:t>Бот угадывает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Вопрос: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«Другой заказ»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Ответ: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инструкция, как оформить новый заказ</a:t>
            </a:r>
            <a:endParaRPr lang="en-US" sz="1200" dirty="0"/>
          </a:p>
        </p:txBody>
      </p:sp>
      <p:sp>
        <p:nvSpPr>
          <p:cNvPr id="10" name="example-2"/>
          <p:cNvSpPr/>
          <p:nvPr/>
        </p:nvSpPr>
        <p:spPr>
          <a:xfrm>
            <a:off x="7818120" y="45262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</a:rPr>
              <a:t>Жалоба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9834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Вопрос: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«Хочу оставить жалобу на продавца»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Ответ: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почтовый адрес для письменной претензии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в ответе повышает и снижает ОМНП</a:t>
            </a:r>
            <a:endParaRPr lang="en-US" sz="3200" dirty="0"/>
          </a:p>
        </p:txBody>
      </p:sp>
      <p:pic>
        <p:nvPicPr>
          <p:cNvPr id="3" name="Image 0" descr="Отношения шансов ОМНП по свойствам ответ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040880" cy="3931920"/>
          </a:xfrm>
          <a:prstGeom prst="rect">
            <a:avLst/>
          </a:prstGeom>
        </p:spPr>
      </p:pic>
      <p:sp>
        <p:nvSpPr>
          <p:cNvPr id="4" name="Снижает шансы ОМНП"/>
          <p:cNvSpPr/>
          <p:nvPr/>
        </p:nvSpPr>
        <p:spPr>
          <a:xfrm>
            <a:off x="7863840" y="123444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</a:rPr>
              <a:t>Снижает шансы ОМНП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7830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Прямой «Да» / «Нет» первым словом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17830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×0,40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121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Выше релевантность (+1σ)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698480" y="21214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×0,76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597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Чёткий отказ с причиной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698480" y="2459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×0,85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7980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Конкретные сроки и суммы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0" y="27980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×0,91</a:t>
            </a:r>
            <a:endParaRPr lang="en-US" sz="1300" dirty="0"/>
          </a:p>
        </p:txBody>
      </p:sp>
      <p:sp>
        <p:nvSpPr>
          <p:cNvPr id="14" name="Повышает шансы ОМНП"/>
          <p:cNvSpPr/>
          <p:nvPr/>
        </p:nvSpPr>
        <p:spPr>
          <a:xfrm>
            <a:off x="7863840" y="342900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CEDE5"/>
          </a:solidFill>
          <a:ln w="12700">
            <a:solidFill>
              <a:srgbClr val="FCED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</a:rPr>
              <a:t>Повышает шансы ОМНП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977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Список возможных причин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698480" y="39776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×1,63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3159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«Нет информации в базе»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698480" y="43159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×1,40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6542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Отсылка в личный кабинет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698480" y="4654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×1,24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49926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Номер заказа без данных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0" y="49926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×1,19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Логистическая регрессия с поправкой на тему и тип запроса; ×1,63 — отношение шансов ОМНП. Это корреляции: эффект подтверждать A/B-тестом.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Реакция зависит от ожиданий, а не только от ответа</a:t>
            </a:r>
            <a:endParaRPr lang="en-US" sz="3200" dirty="0"/>
          </a:p>
        </p:txBody>
      </p:sp>
      <p:pic>
        <p:nvPicPr>
          <p:cNvPr id="3" name="Image 0" descr="Один и тот же ответ: доля ОМНП у «узнать» и «решить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66751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463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Один и тот же ответ: у «решить по заказу» ОМНП в среднем на 10,7 п.п. выше, чем у «узнать» (в 98% статей)</a:t>
            </a:r>
            <a:endParaRPr lang="en-US" sz="1300" dirty="0"/>
          </a:p>
        </p:txBody>
      </p:sp>
      <p:graphicFrame>
        <p:nvGraphicFramePr>
          <p:cNvPr id="5" name="nav-chart" descr=""/>
          <p:cNvGraphicFramePr/>
          <p:nvPr/>
        </p:nvGraphicFramePr>
        <p:xfrm>
          <a:off x="7589520" y="123444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589520" y="4846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«Назад» и «Главное меню» получают «Спасибо» чаще остальных: этой кнопкой выходят из диалога</a:t>
            </a:r>
            <a:endParaRPr lang="en-US" sz="1200" dirty="0"/>
          </a:p>
        </p:txBody>
      </p:sp>
      <p:sp>
        <p:nvSpPr>
          <p:cNvPr id="7" name="manual-mismatch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</a:rPr>
              <a:t>23% ОМНП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на корректный ответ или корректный отказ   ·  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</a:rPr>
              <a:t>22% «Спасибо»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на ответ, который задачу не решил (ручная разметка)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Эталоны: как выглядит хороший ответ</a:t>
            </a:r>
            <a:endParaRPr lang="en-US" sz="3200" dirty="0"/>
          </a:p>
        </p:txBody>
      </p:sp>
      <p:graphicFrame>
        <p:nvGraphicFramePr>
          <p:cNvPr id="10" name="etal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309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914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ответа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ОМНП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скачать электронные чеки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Продлить срок хранения нельзя (14 дней)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ВАУ-баллы: сроки и возврат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 Premium и стоимость доставки: справка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 Рассрочка: условия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Способы оплаты и оформление заказа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Изменить адрес / пункт выдачи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Списание 199 ₽ = продление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18 из 40 кластеров ответов значимо лучше базы 85%. Худшие (91–93%): шаблон «статус в личном кабинете», «пункт выдачи закрыт», «перенести дату доставки».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280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Принципы эталонного ответа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269480" y="182880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Первая фраза отвечает на вопрос: «Да», «Нет», срок, сумма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69480" y="260604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Одна конкретная причина вместо списка «может быть связано с…»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69480" y="33832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337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Если нельзя — сразу альтернатива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269480" y="416052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Коротко: каждые +100 символов повышают шансы ОМНП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269480" y="493776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69480" y="4937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892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Инструкция — только если пользователь правда может сделать сам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Половину ОМНП ответом из базы знаний не закрыть</a:t>
            </a:r>
            <a:endParaRPr lang="en-US" sz="3200" dirty="0"/>
          </a:p>
        </p:txBody>
      </p:sp>
      <p:graphicFrame>
        <p:nvGraphicFramePr>
          <p:cNvPr id="3" name="root-chart" descr=""/>
          <p:cNvGraphicFramePr/>
          <p:nvPr/>
        </p:nvGraphicFramePr>
        <p:xfrm>
          <a:off x="548640" y="128016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ig-share"/>
          <p:cNvSpPr/>
          <p:nvPr/>
        </p:nvSpPr>
        <p:spPr>
          <a:xfrm>
            <a:off x="8001000" y="1280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CEDE5"/>
          </a:solidFill>
          <a:ln w="12700">
            <a:solidFill>
              <a:srgbClr val="FCEDE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</a:rPr>
              <a:t>47%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ОМНП требуют данных заказа, действия или человека: RAG на базе статей их не решит</a:t>
            </a:r>
            <a:endParaRPr lang="en-US" sz="1400" dirty="0"/>
          </a:p>
        </p:txBody>
      </p:sp>
      <p:sp>
        <p:nvSpPr>
          <p:cNvPr id="7" name="unclear-share"/>
          <p:cNvSpPr/>
          <p:nvPr/>
        </p:nvSpPr>
        <p:spPr>
          <a:xfrm>
            <a:off x="800100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2A"/>
                </a:solidFill>
              </a:rPr>
              <a:t>25%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480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неясные запросы: вместо угадывания нужен уточняющий вопрос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Сегменты взаимоисключающие (правила, приоритет сверху вниз). Метка «неясный запрос» включает утверждения без явного намерения.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Рекомендации</a:t>
            </a:r>
            <a:endParaRPr lang="en-US" sz="3200" dirty="0"/>
          </a:p>
        </p:txBody>
      </p:sp>
      <p:sp>
        <p:nvSpPr>
          <p:cNvPr id="3" name="rec-0"/>
          <p:cNvSpPr/>
          <p:nvPr/>
        </p:nvSpPr>
        <p:spPr>
          <a:xfrm>
            <a:off x="54864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Инструменты по заказу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Статус, отмена, перенос, возврат через API заказов: ответ с данными, а не «перейдите в раздел»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</a:rPr>
              <a:t>36% ОМНП</a:t>
            </a:r>
            <a:endParaRPr lang="en-US" sz="1200" dirty="0"/>
          </a:p>
        </p:txBody>
      </p:sp>
      <p:sp>
        <p:nvSpPr>
          <p:cNvPr id="9" name="rec-1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5087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5087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Эскалация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57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Жалоба или «человек» → оператор с саммари диалога; до передачи — короткий эмпатичный ответ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</a:rPr>
              <a:t>12% ОМНП</a:t>
            </a:r>
            <a:endParaRPr lang="en-US" sz="1200" dirty="0"/>
          </a:p>
        </p:txBody>
      </p:sp>
      <p:sp>
        <p:nvSpPr>
          <p:cNvPr id="15" name="rec-2"/>
          <p:cNvSpPr/>
          <p:nvPr/>
        </p:nvSpPr>
        <p:spPr>
          <a:xfrm>
            <a:off x="804672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5087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15087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Уточнять, а не угадывать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057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1–3 слова или низкая уверенность ретривера → 2–4 кнопки уточнения; реранкер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</a:rPr>
              <a:t>25% ОМНП</a:t>
            </a:r>
            <a:endParaRPr lang="en-US" sz="1200" dirty="0"/>
          </a:p>
        </p:txBody>
      </p:sp>
      <p:sp>
        <p:nvSpPr>
          <p:cNvPr id="21" name="rec-3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690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069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Контекст диалога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Передавать историю в переформулировку и генерацию; после ОМНП не повторять ту же статью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</a:rPr>
              <a:t>кластер 94% ОМНП</a:t>
            </a:r>
            <a:endParaRPr lang="en-US" sz="1200" dirty="0"/>
          </a:p>
        </p:txBody>
      </p:sp>
      <p:sp>
        <p:nvSpPr>
          <p:cNvPr id="27" name="rec-4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069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Стандарт ответа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Первая фраза — ответ; без «списка причин»; при отказе — альтернатива; лимит длины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</a:rPr>
              <a:t>быстро · промпт</a:t>
            </a:r>
            <a:endParaRPr lang="en-US" sz="1200" dirty="0"/>
          </a:p>
        </p:txBody>
      </p:sp>
      <p:sp>
        <p:nvSpPr>
          <p:cNvPr id="33" name="rec-5"/>
          <p:cNvSpPr/>
          <p:nvPr/>
        </p:nvSpPr>
        <p:spPr>
          <a:xfrm>
            <a:off x="804672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40690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069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Кнопки и метрика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Отдельные «Оператор» и «Меню»; после ОМНП — причина: не тот ответ / нужно действие / человек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</a:rPr>
              <a:t>быстро · интерфейс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Следующие шаги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</a:rPr>
              <a:t>2 недели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A/B стандарта ответа и уточняющих кнопок на коротких запросах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метрики: ОМНП, доля эскалаций, повторные обращения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</a:rPr>
              <a:t>1–2 месяца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148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Пилот инструментов на «где мой заказ» и «отменить заказ» (~9% трафика)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метрики: ОМНП в сегменте, время до решения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</a:rPr>
              <a:t>Постоянно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48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Разметка 1–2 тыс. диалогов → LLM-as-judge по той же таксономии; логи ретривера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мониторинг качества по причинам, а не только по кнопке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Ограничения: только диалоги с нажатой кнопкой; нет контекста сессии и найденных фрагментов; тип намерения определён правилами и проверен на 210 диалогах.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NP Research">
  <a:themeElements>
    <a:clrScheme name="OMNP Research">
      <a:dk1>
        <a:srgbClr val="1B1F2A"/>
      </a:dk1>
      <a:lt1>
        <a:srgbClr val="FFFFFF"/>
      </a:lt1>
      <a:dk2>
        <a:srgbClr val="1F2433"/>
      </a:dk2>
      <a:lt2>
        <a:srgbClr val="F3F2EF"/>
      </a:lt2>
      <a:accent1>
        <a:srgbClr val="EB6834"/>
      </a:accent1>
      <a:accent2>
        <a:srgbClr val="2A78D6"/>
      </a:accent2>
      <a:accent3>
        <a:srgbClr val="B5B3AD"/>
      </a:accent3>
      <a:accent4>
        <a:srgbClr val="1BAF7A"/>
      </a:accent4>
      <a:accent5>
        <a:srgbClr val="EDA100"/>
      </a:accent5>
      <a:accent6>
        <a:srgbClr val="4A3AA7"/>
      </a:accent6>
      <a:hlink>
        <a:srgbClr val="2A78D6"/>
      </a:hlink>
      <a:folHlink>
        <a:srgbClr val="4A3AA7"/>
      </a:folHlink>
    </a:clrScheme>
    <a:fontScheme name="OMNP Resear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нажимают «Ответ мне не помог»</dc:title>
  <dc:subject>PptxGenJS Presentation</dc:subject>
  <dc:creator>Артемий Корнилов</dc:creator>
  <cp:lastModifiedBy>Артемий Корнилов</cp:lastModifiedBy>
  <cp:revision>1</cp:revision>
  <dcterms:created xsi:type="dcterms:W3CDTF">2026-10-03T22:11:56Z</dcterms:created>
  <dcterms:modified xsi:type="dcterms:W3CDTF">2026-10-03T22:11:56Z</dcterms:modified>
</cp:coreProperties>
</file>